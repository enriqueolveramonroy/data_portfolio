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Century Gothic" panose="020B0502020202020204" pitchFamily="34" charset="0"/>
      <p:regular r:id="rId24"/>
      <p:bold r:id="rId25"/>
      <p:italic r:id="rId26"/>
      <p:boldItalic r:id="rId27"/>
    </p:embeddedFont>
    <p:embeddedFont>
      <p:font typeface="Roboto" panose="020F0502020204030204"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50C56F-7ED8-4E0B-804B-53BA56EBC7AF}" v="1" dt="2026-08-09T23:58:32.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9"/>
        <p:cNvGrpSpPr/>
        <p:nvPr/>
      </p:nvGrpSpPr>
      <p:grpSpPr>
        <a:xfrm>
          <a:off x="0" y="0"/>
          <a:ext cx="0" cy="0"/>
          <a:chOff x="0" y="0"/>
          <a:chExt cx="0" cy="0"/>
        </a:xfrm>
      </p:grpSpPr>
      <p:grpSp>
        <p:nvGrpSpPr>
          <p:cNvPr id="30" name="Google Shape;30;p4"/>
          <p:cNvGrpSpPr/>
          <p:nvPr/>
        </p:nvGrpSpPr>
        <p:grpSpPr>
          <a:xfrm>
            <a:off x="6098378" y="5"/>
            <a:ext cx="3045625" cy="2030570"/>
            <a:chOff x="6098378" y="5"/>
            <a:chExt cx="3045625" cy="2030570"/>
          </a:xfrm>
        </p:grpSpPr>
        <p:sp>
          <p:nvSpPr>
            <p:cNvPr id="31" name="Google Shape;31;p4"/>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4"/>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 name="Google Shape;57;p8"/>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6" name="Google Shape;76;p11"/>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311708" y="583850"/>
            <a:ext cx="8520600" cy="20526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s-419"/>
              <a:t>Proyecto Final de Diplomado</a:t>
            </a:r>
            <a:endParaRPr/>
          </a:p>
        </p:txBody>
      </p:sp>
      <p:sp>
        <p:nvSpPr>
          <p:cNvPr id="86" name="Google Shape;86;p13"/>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fontScale="47500" lnSpcReduction="20000"/>
          </a:bodyPr>
          <a:lstStyle/>
          <a:p>
            <a:pPr marL="0" lvl="0" indent="0" algn="l" rtl="0">
              <a:lnSpc>
                <a:spcPct val="100000"/>
              </a:lnSpc>
              <a:spcBef>
                <a:spcPts val="0"/>
              </a:spcBef>
              <a:spcAft>
                <a:spcPts val="0"/>
              </a:spcAft>
              <a:buSzPct val="210526"/>
              <a:buNone/>
            </a:pPr>
            <a:endParaRPr/>
          </a:p>
          <a:p>
            <a:pPr marL="0" lvl="0" indent="0" algn="l" rtl="0">
              <a:lnSpc>
                <a:spcPct val="100000"/>
              </a:lnSpc>
              <a:spcBef>
                <a:spcPts val="0"/>
              </a:spcBef>
              <a:spcAft>
                <a:spcPts val="0"/>
              </a:spcAft>
              <a:buSzPct val="210526"/>
              <a:buNone/>
            </a:pPr>
            <a:r>
              <a:rPr lang="es-419"/>
              <a:t>Rating de Jugadores de Fútbol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Objetivo</a:t>
            </a:r>
            <a:endParaRPr/>
          </a:p>
        </p:txBody>
      </p:sp>
      <p:sp>
        <p:nvSpPr>
          <p:cNvPr id="92" name="Google Shape;92;p14"/>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s-419"/>
              <a:t>Predecir el rating general de un jugador de fútbol a partir de una serie de valores de entrada como edad, peso, altura, potencia entre otras. Utilizando el algoritmo de Decision Tree Regression de Scikit Learn.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Entendimiento del algoritmo</a:t>
            </a:r>
            <a:endParaRPr/>
          </a:p>
        </p:txBody>
      </p:sp>
      <p:sp>
        <p:nvSpPr>
          <p:cNvPr id="98" name="Google Shape;98;p15"/>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s-419"/>
              <a:t>Los árboles de decisión son una técnica de aprendizaje supervisado que predice valores de respuestas mediante el aprendizaje de reglas de decisión derivadas de características. Se pueden utilizar tanto en una regresión como en un contexto de clasificación.</a:t>
            </a:r>
            <a:endParaRPr/>
          </a:p>
          <a:p>
            <a:pPr marL="0" lvl="0" indent="0" algn="l" rtl="0">
              <a:lnSpc>
                <a:spcPct val="115000"/>
              </a:lnSpc>
              <a:spcBef>
                <a:spcPts val="1200"/>
              </a:spcBef>
              <a:spcAft>
                <a:spcPts val="0"/>
              </a:spcAft>
              <a:buSzPts val="1800"/>
              <a:buNone/>
            </a:pPr>
            <a:endParaRPr/>
          </a:p>
          <a:p>
            <a:pPr marL="0" lvl="0" indent="0" algn="l" rtl="0">
              <a:lnSpc>
                <a:spcPct val="115000"/>
              </a:lnSpc>
              <a:spcBef>
                <a:spcPts val="1200"/>
              </a:spcBef>
              <a:spcAft>
                <a:spcPts val="0"/>
              </a:spcAft>
              <a:buSzPts val="1800"/>
              <a:buNone/>
            </a:pPr>
            <a:r>
              <a:rPr lang="es-419"/>
              <a:t>Los árboles de regresión/clasificación fueron propuestos por Leo Breiman en 1984 su objetivo es predecir la variable respuesta Y en función de otras variables.</a:t>
            </a:r>
            <a:endParaRPr sz="1200">
              <a:solidFill>
                <a:srgbClr val="000000"/>
              </a:solidFill>
              <a:latin typeface="Arial"/>
              <a:ea typeface="Arial"/>
              <a:cs typeface="Arial"/>
              <a:sym typeface="Arial"/>
            </a:endParaRPr>
          </a:p>
          <a:p>
            <a:pPr marL="0" lvl="0" indent="0" algn="l" rtl="0">
              <a:lnSpc>
                <a:spcPct val="115000"/>
              </a:lnSpc>
              <a:spcBef>
                <a:spcPts val="0"/>
              </a:spcBef>
              <a:spcAft>
                <a:spcPts val="1200"/>
              </a:spcAft>
              <a:buSzPts val="1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04" name="Google Shape;104;p16"/>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05" name="Google Shape;105;p16"/>
          <p:cNvPicPr preferRelativeResize="0"/>
          <p:nvPr/>
        </p:nvPicPr>
        <p:blipFill rotWithShape="1">
          <a:blip r:embed="rId3">
            <a:alphaModFix/>
          </a:blip>
          <a:srcRect/>
          <a:stretch/>
        </p:blipFill>
        <p:spPr>
          <a:xfrm>
            <a:off x="613178" y="291728"/>
            <a:ext cx="6543950" cy="3640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a:t>
            </a:r>
            <a:endParaRPr/>
          </a:p>
        </p:txBody>
      </p:sp>
      <p:sp>
        <p:nvSpPr>
          <p:cNvPr id="111" name="Google Shape;111;p17"/>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s-419"/>
              <a:t>Predice valores , mediante el aprendizaje de reglas de decisión, derivadas de las características que se agregaron.</a:t>
            </a:r>
            <a:endParaRPr/>
          </a:p>
          <a:p>
            <a:pPr marL="0" lvl="0" indent="0" algn="l" rtl="0">
              <a:lnSpc>
                <a:spcPct val="115000"/>
              </a:lnSpc>
              <a:spcBef>
                <a:spcPts val="1200"/>
              </a:spcBef>
              <a:spcAft>
                <a:spcPts val="1200"/>
              </a:spcAft>
              <a:buSzPts val="1800"/>
              <a:buNone/>
            </a:pPr>
            <a:r>
              <a:rPr lang="es-419"/>
              <a:t>Divide el espacio de las características en varias regiones rectangulares simples, divididas por líneas paralelas al eje.</a:t>
            </a:r>
            <a:endParaRPr/>
          </a:p>
        </p:txBody>
      </p:sp>
      <p:pic>
        <p:nvPicPr>
          <p:cNvPr id="112" name="Google Shape;112;p17"/>
          <p:cNvPicPr preferRelativeResize="0"/>
          <p:nvPr/>
        </p:nvPicPr>
        <p:blipFill rotWithShape="1">
          <a:blip r:embed="rId3">
            <a:alphaModFix/>
          </a:blip>
          <a:srcRect/>
          <a:stretch/>
        </p:blipFill>
        <p:spPr>
          <a:xfrm>
            <a:off x="1630225" y="2894845"/>
            <a:ext cx="2453600" cy="1674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p:txBody>
      </p:sp>
      <p:sp>
        <p:nvSpPr>
          <p:cNvPr id="118" name="Google Shape;118;p18"/>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600"/>
              </a:spcBef>
              <a:spcAft>
                <a:spcPts val="0"/>
              </a:spcAft>
              <a:buSzPts val="1800"/>
              <a:buNone/>
            </a:pPr>
            <a:r>
              <a:rPr lang="es-419"/>
              <a:t>En una regresión el modelo busca obtener el valor promedio de cada rama final para así predecir el valor de y en función del valor de X.</a:t>
            </a:r>
            <a:endParaRPr/>
          </a:p>
          <a:p>
            <a:pPr marL="0" lvl="0" indent="0" algn="l" rtl="0">
              <a:lnSpc>
                <a:spcPct val="115000"/>
              </a:lnSpc>
              <a:spcBef>
                <a:spcPts val="600"/>
              </a:spcBef>
              <a:spcAft>
                <a:spcPts val="0"/>
              </a:spcAft>
              <a:buSzPts val="1800"/>
              <a:buNone/>
            </a:pPr>
            <a:endParaRPr/>
          </a:p>
          <a:p>
            <a:pPr marL="0" lvl="0" indent="0" algn="l" rtl="0">
              <a:lnSpc>
                <a:spcPct val="115000"/>
              </a:lnSpc>
              <a:spcBef>
                <a:spcPts val="600"/>
              </a:spcBef>
              <a:spcAft>
                <a:spcPts val="0"/>
              </a:spcAft>
              <a:buSzPts val="1800"/>
              <a:buNone/>
            </a:pPr>
            <a:r>
              <a:rPr lang="es-419"/>
              <a:t>El objetivo matemático para el algoritmo es minimizar algún tipo de criterio de error. Deseamos minimizar la suma de cuadrados residual RSS que viene por default en scikit-learn. </a:t>
            </a:r>
            <a:endParaRPr sz="1200">
              <a:solidFill>
                <a:srgbClr val="212121"/>
              </a:solidFill>
              <a:highlight>
                <a:srgbClr val="FFFFFF"/>
              </a:highlight>
            </a:endParaRPr>
          </a:p>
          <a:p>
            <a:pPr marL="0" lvl="0" indent="0" algn="l" rtl="0">
              <a:lnSpc>
                <a:spcPct val="115000"/>
              </a:lnSpc>
              <a:spcBef>
                <a:spcPts val="500"/>
              </a:spcBef>
              <a:spcAft>
                <a:spcPts val="1200"/>
              </a:spcAft>
              <a:buSzPts val="1800"/>
              <a:buNone/>
            </a:pPr>
            <a:endParaRPr/>
          </a:p>
        </p:txBody>
      </p:sp>
      <p:pic>
        <p:nvPicPr>
          <p:cNvPr id="119" name="Google Shape;119;p18"/>
          <p:cNvPicPr preferRelativeResize="0"/>
          <p:nvPr/>
        </p:nvPicPr>
        <p:blipFill rotWithShape="1">
          <a:blip r:embed="rId3">
            <a:alphaModFix/>
          </a:blip>
          <a:srcRect/>
          <a:stretch/>
        </p:blipFill>
        <p:spPr>
          <a:xfrm>
            <a:off x="933450" y="3643300"/>
            <a:ext cx="363855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p:txBody>
      </p:sp>
      <p:sp>
        <p:nvSpPr>
          <p:cNvPr id="125" name="Google Shape;125;p19"/>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26" name="Google Shape;126;p19"/>
          <p:cNvPicPr preferRelativeResize="0"/>
          <p:nvPr/>
        </p:nvPicPr>
        <p:blipFill rotWithShape="1">
          <a:blip r:embed="rId3">
            <a:alphaModFix/>
          </a:blip>
          <a:srcRect/>
          <a:stretch/>
        </p:blipFill>
        <p:spPr>
          <a:xfrm>
            <a:off x="311700" y="1548025"/>
            <a:ext cx="4713677" cy="2295575"/>
          </a:xfrm>
          <a:prstGeom prst="rect">
            <a:avLst/>
          </a:prstGeom>
          <a:noFill/>
          <a:ln>
            <a:noFill/>
          </a:ln>
        </p:spPr>
      </p:pic>
      <p:pic>
        <p:nvPicPr>
          <p:cNvPr id="127" name="Google Shape;127;p19"/>
          <p:cNvPicPr preferRelativeResize="0"/>
          <p:nvPr/>
        </p:nvPicPr>
        <p:blipFill rotWithShape="1">
          <a:blip r:embed="rId4">
            <a:alphaModFix/>
          </a:blip>
          <a:srcRect/>
          <a:stretch/>
        </p:blipFill>
        <p:spPr>
          <a:xfrm>
            <a:off x="5115776" y="1370890"/>
            <a:ext cx="3534351" cy="2649836"/>
          </a:xfrm>
          <a:prstGeom prst="rect">
            <a:avLst/>
          </a:prstGeom>
          <a:noFill/>
          <a:ln>
            <a:noFill/>
          </a:ln>
        </p:spPr>
      </p:pic>
      <p:sp>
        <p:nvSpPr>
          <p:cNvPr id="128" name="Google Shape;128;p19"/>
          <p:cNvSpPr txBox="1"/>
          <p:nvPr/>
        </p:nvSpPr>
        <p:spPr>
          <a:xfrm>
            <a:off x="396500" y="4114800"/>
            <a:ext cx="5464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Roboto"/>
                <a:ea typeface="Roboto"/>
                <a:cs typeface="Roboto"/>
                <a:sym typeface="Roboto"/>
              </a:rPr>
              <a:t>Se usan los residuos para cuantificar la calidad de la predicción</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0"/>
          <p:cNvSpPr txBox="1">
            <a:spLocks noGrp="1"/>
          </p:cNvSpPr>
          <p:nvPr>
            <p:ph type="title"/>
          </p:nvPr>
        </p:nvSpPr>
        <p:spPr>
          <a:xfrm>
            <a:off x="365275" y="44215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p:txBody>
      </p:sp>
      <p:sp>
        <p:nvSpPr>
          <p:cNvPr id="134" name="Google Shape;134;p20"/>
          <p:cNvSpPr txBox="1">
            <a:spLocks noGrp="1"/>
          </p:cNvSpPr>
          <p:nvPr>
            <p:ph type="body" idx="1"/>
          </p:nvPr>
        </p:nvSpPr>
        <p:spPr>
          <a:xfrm>
            <a:off x="365275" y="126202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35" name="Google Shape;135;p20"/>
          <p:cNvPicPr preferRelativeResize="0"/>
          <p:nvPr/>
        </p:nvPicPr>
        <p:blipFill rotWithShape="1">
          <a:blip r:embed="rId3">
            <a:alphaModFix/>
          </a:blip>
          <a:srcRect/>
          <a:stretch/>
        </p:blipFill>
        <p:spPr>
          <a:xfrm>
            <a:off x="365275" y="1647799"/>
            <a:ext cx="4192996" cy="2030149"/>
          </a:xfrm>
          <a:prstGeom prst="rect">
            <a:avLst/>
          </a:prstGeom>
          <a:noFill/>
          <a:ln>
            <a:noFill/>
          </a:ln>
        </p:spPr>
      </p:pic>
      <p:pic>
        <p:nvPicPr>
          <p:cNvPr id="136" name="Google Shape;136;p20"/>
          <p:cNvPicPr preferRelativeResize="0"/>
          <p:nvPr/>
        </p:nvPicPr>
        <p:blipFill rotWithShape="1">
          <a:blip r:embed="rId4">
            <a:alphaModFix/>
          </a:blip>
          <a:srcRect/>
          <a:stretch/>
        </p:blipFill>
        <p:spPr>
          <a:xfrm>
            <a:off x="4571999" y="1556678"/>
            <a:ext cx="4347674" cy="2030150"/>
          </a:xfrm>
          <a:prstGeom prst="rect">
            <a:avLst/>
          </a:prstGeom>
          <a:noFill/>
          <a:ln>
            <a:noFill/>
          </a:ln>
        </p:spPr>
      </p:pic>
      <p:sp>
        <p:nvSpPr>
          <p:cNvPr id="137" name="Google Shape;137;p20"/>
          <p:cNvSpPr txBox="1"/>
          <p:nvPr/>
        </p:nvSpPr>
        <p:spPr>
          <a:xfrm>
            <a:off x="396500" y="4114800"/>
            <a:ext cx="5979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Roboto"/>
                <a:ea typeface="Roboto"/>
                <a:cs typeface="Roboto"/>
                <a:sym typeface="Roboto"/>
              </a:rPr>
              <a:t>Se calcula la diferencia observada y la predicha y se saca su cuadrado.</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p:txBody>
      </p:sp>
      <p:sp>
        <p:nvSpPr>
          <p:cNvPr id="143" name="Google Shape;143;p2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44" name="Google Shape;144;p21"/>
          <p:cNvPicPr preferRelativeResize="0"/>
          <p:nvPr/>
        </p:nvPicPr>
        <p:blipFill rotWithShape="1">
          <a:blip r:embed="rId3">
            <a:alphaModFix/>
          </a:blip>
          <a:srcRect/>
          <a:stretch/>
        </p:blipFill>
        <p:spPr>
          <a:xfrm>
            <a:off x="431000" y="1893656"/>
            <a:ext cx="4419600" cy="1890461"/>
          </a:xfrm>
          <a:prstGeom prst="rect">
            <a:avLst/>
          </a:prstGeom>
          <a:noFill/>
          <a:ln>
            <a:noFill/>
          </a:ln>
        </p:spPr>
      </p:pic>
      <p:pic>
        <p:nvPicPr>
          <p:cNvPr id="145" name="Google Shape;145;p21"/>
          <p:cNvPicPr preferRelativeResize="0"/>
          <p:nvPr/>
        </p:nvPicPr>
        <p:blipFill rotWithShape="1">
          <a:blip r:embed="rId4">
            <a:alphaModFix/>
          </a:blip>
          <a:srcRect/>
          <a:stretch/>
        </p:blipFill>
        <p:spPr>
          <a:xfrm>
            <a:off x="4965993" y="1860930"/>
            <a:ext cx="3912525" cy="1421625"/>
          </a:xfrm>
          <a:prstGeom prst="rect">
            <a:avLst/>
          </a:prstGeom>
          <a:noFill/>
          <a:ln>
            <a:noFill/>
          </a:ln>
        </p:spPr>
      </p:pic>
      <p:sp>
        <p:nvSpPr>
          <p:cNvPr id="146" name="Google Shape;146;p21"/>
          <p:cNvSpPr txBox="1"/>
          <p:nvPr/>
        </p:nvSpPr>
        <p:spPr>
          <a:xfrm>
            <a:off x="396500" y="4114800"/>
            <a:ext cx="5979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Roboto"/>
                <a:ea typeface="Roboto"/>
                <a:cs typeface="Roboto"/>
                <a:sym typeface="Roboto"/>
              </a:rPr>
              <a:t>Se calcula el residuo en cada uno de los puntos y se suma</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p:txBody>
      </p:sp>
      <p:sp>
        <p:nvSpPr>
          <p:cNvPr id="152" name="Google Shape;152;p22"/>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53" name="Google Shape;153;p22"/>
          <p:cNvPicPr preferRelativeResize="0"/>
          <p:nvPr/>
        </p:nvPicPr>
        <p:blipFill rotWithShape="1">
          <a:blip r:embed="rId3">
            <a:alphaModFix/>
          </a:blip>
          <a:srcRect/>
          <a:stretch/>
        </p:blipFill>
        <p:spPr>
          <a:xfrm>
            <a:off x="471504" y="1373300"/>
            <a:ext cx="3585676" cy="3052126"/>
          </a:xfrm>
          <a:prstGeom prst="rect">
            <a:avLst/>
          </a:prstGeom>
          <a:noFill/>
          <a:ln>
            <a:noFill/>
          </a:ln>
        </p:spPr>
      </p:pic>
      <p:sp>
        <p:nvSpPr>
          <p:cNvPr id="154" name="Google Shape;154;p22"/>
          <p:cNvSpPr txBox="1"/>
          <p:nvPr/>
        </p:nvSpPr>
        <p:spPr>
          <a:xfrm>
            <a:off x="4457700" y="1373300"/>
            <a:ext cx="4264800" cy="1493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s-419" sz="1700" b="0" i="0" u="none" strike="noStrike" cap="none">
                <a:solidFill>
                  <a:srgbClr val="000000"/>
                </a:solidFill>
                <a:latin typeface="Roboto"/>
                <a:ea typeface="Roboto"/>
                <a:cs typeface="Roboto"/>
                <a:sym typeface="Roboto"/>
              </a:rPr>
              <a:t>Se hace el mismo procedimiento en cada uno de los puntos posibles para que al final se coloque el nodo donde la suma de cuadrado residual sea la menor, es decir, la mayor calidad de predicción posible.</a:t>
            </a:r>
            <a:endParaRPr sz="17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a:p>
            <a:pPr marL="0" lvl="0" indent="0" algn="l" rtl="0">
              <a:lnSpc>
                <a:spcPct val="100000"/>
              </a:lnSpc>
              <a:spcBef>
                <a:spcPts val="0"/>
              </a:spcBef>
              <a:spcAft>
                <a:spcPts val="0"/>
              </a:spcAft>
              <a:buSzPct val="111111"/>
              <a:buNone/>
            </a:pPr>
            <a:endParaRPr/>
          </a:p>
        </p:txBody>
      </p:sp>
      <p:sp>
        <p:nvSpPr>
          <p:cNvPr id="160" name="Google Shape;160;p23"/>
          <p:cNvSpPr txBox="1">
            <a:spLocks noGrp="1"/>
          </p:cNvSpPr>
          <p:nvPr>
            <p:ph type="body" idx="1"/>
          </p:nvPr>
        </p:nvSpPr>
        <p:spPr>
          <a:xfrm>
            <a:off x="4393400" y="1229875"/>
            <a:ext cx="4438800" cy="3339000"/>
          </a:xfrm>
          <a:prstGeom prst="rect">
            <a:avLst/>
          </a:prstGeom>
          <a:noFill/>
          <a:ln>
            <a:noFill/>
          </a:ln>
        </p:spPr>
        <p:txBody>
          <a:bodyPr spcFirstLastPara="1" wrap="square" lIns="91425" tIns="91425" rIns="91425" bIns="91425" anchor="t" anchorCtr="0">
            <a:normAutofit/>
          </a:bodyPr>
          <a:lstStyle/>
          <a:p>
            <a:pPr marL="0" lvl="0" indent="0" algn="l" rtl="0">
              <a:lnSpc>
                <a:spcPct val="135714"/>
              </a:lnSpc>
              <a:spcBef>
                <a:spcPts val="0"/>
              </a:spcBef>
              <a:spcAft>
                <a:spcPts val="0"/>
              </a:spcAft>
              <a:buSzPts val="1800"/>
              <a:buNone/>
            </a:pPr>
            <a:r>
              <a:rPr lang="es-419"/>
              <a:t>A partir de la suma de cuadrado residual se puede comenzar a segmentar la nube de puntos en varios grupos.</a:t>
            </a:r>
            <a:endParaRPr/>
          </a:p>
          <a:p>
            <a:pPr marL="0" lvl="0" indent="0" algn="l" rtl="0">
              <a:lnSpc>
                <a:spcPct val="135714"/>
              </a:lnSpc>
              <a:spcBef>
                <a:spcPts val="0"/>
              </a:spcBef>
              <a:spcAft>
                <a:spcPts val="0"/>
              </a:spcAft>
              <a:buSzPts val="1800"/>
              <a:buNone/>
            </a:pPr>
            <a:endParaRPr/>
          </a:p>
          <a:p>
            <a:pPr marL="0" lvl="0" indent="0" algn="l" rtl="0">
              <a:lnSpc>
                <a:spcPct val="115000"/>
              </a:lnSpc>
              <a:spcBef>
                <a:spcPts val="0"/>
              </a:spcBef>
              <a:spcAft>
                <a:spcPts val="1200"/>
              </a:spcAft>
              <a:buSzPts val="1800"/>
              <a:buNone/>
            </a:pPr>
            <a:endParaRPr/>
          </a:p>
        </p:txBody>
      </p:sp>
      <p:pic>
        <p:nvPicPr>
          <p:cNvPr id="161" name="Google Shape;161;p23"/>
          <p:cNvPicPr preferRelativeResize="0"/>
          <p:nvPr/>
        </p:nvPicPr>
        <p:blipFill rotWithShape="1">
          <a:blip r:embed="rId3">
            <a:alphaModFix/>
          </a:blip>
          <a:srcRect/>
          <a:stretch/>
        </p:blipFill>
        <p:spPr>
          <a:xfrm>
            <a:off x="418850" y="1101953"/>
            <a:ext cx="3653075" cy="359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a:p>
            <a:pPr marL="0" lvl="0" indent="0" algn="l" rtl="0">
              <a:lnSpc>
                <a:spcPct val="100000"/>
              </a:lnSpc>
              <a:spcBef>
                <a:spcPts val="0"/>
              </a:spcBef>
              <a:spcAft>
                <a:spcPts val="0"/>
              </a:spcAft>
              <a:buSzPct val="111111"/>
              <a:buNone/>
            </a:pPr>
            <a:endParaRPr/>
          </a:p>
        </p:txBody>
      </p:sp>
      <p:sp>
        <p:nvSpPr>
          <p:cNvPr id="167" name="Google Shape;167;p24"/>
          <p:cNvSpPr txBox="1">
            <a:spLocks noGrp="1"/>
          </p:cNvSpPr>
          <p:nvPr>
            <p:ph type="body" idx="1"/>
          </p:nvPr>
        </p:nvSpPr>
        <p:spPr>
          <a:xfrm>
            <a:off x="4500575" y="1229875"/>
            <a:ext cx="43317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s-419"/>
              <a:t>Luego se hace una estimación del valor promedio de cada área, que representa el valor final estimado de Y en función de X</a:t>
            </a:r>
            <a:r>
              <a:rPr lang="es-419" sz="1200">
                <a:solidFill>
                  <a:srgbClr val="212121"/>
                </a:solidFill>
                <a:highlight>
                  <a:srgbClr val="FFFFFF"/>
                </a:highlight>
              </a:rPr>
              <a:t>.</a:t>
            </a:r>
            <a:endParaRPr/>
          </a:p>
        </p:txBody>
      </p:sp>
      <p:pic>
        <p:nvPicPr>
          <p:cNvPr id="168" name="Google Shape;168;p24"/>
          <p:cNvPicPr preferRelativeResize="0"/>
          <p:nvPr/>
        </p:nvPicPr>
        <p:blipFill rotWithShape="1">
          <a:blip r:embed="rId3">
            <a:alphaModFix/>
          </a:blip>
          <a:srcRect/>
          <a:stretch/>
        </p:blipFill>
        <p:spPr>
          <a:xfrm>
            <a:off x="225026" y="1065451"/>
            <a:ext cx="4093375" cy="374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a:p>
            <a:pPr marL="0" lvl="0" indent="0" algn="l" rtl="0">
              <a:lnSpc>
                <a:spcPct val="100000"/>
              </a:lnSpc>
              <a:spcBef>
                <a:spcPts val="0"/>
              </a:spcBef>
              <a:spcAft>
                <a:spcPts val="0"/>
              </a:spcAft>
              <a:buSzPct val="111111"/>
              <a:buNone/>
            </a:pPr>
            <a:endParaRPr/>
          </a:p>
        </p:txBody>
      </p:sp>
      <p:sp>
        <p:nvSpPr>
          <p:cNvPr id="174" name="Google Shape;174;p25"/>
          <p:cNvSpPr txBox="1">
            <a:spLocks noGrp="1"/>
          </p:cNvSpPr>
          <p:nvPr>
            <p:ph type="body" idx="1"/>
          </p:nvPr>
        </p:nvSpPr>
        <p:spPr>
          <a:xfrm>
            <a:off x="4104075" y="1229888"/>
            <a:ext cx="48141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s-419"/>
              <a:t>Entre más profundo sea el árbol (Entre más nodos tenga) este se divide en muchas más áreas y al obtener el valor promedio de cada área, este se ajustará mucho mejor a la variable a predecir Y. (Lo que lo hace sensible a sobreajuste)</a:t>
            </a:r>
            <a:endParaRPr/>
          </a:p>
        </p:txBody>
      </p:sp>
      <p:pic>
        <p:nvPicPr>
          <p:cNvPr id="175" name="Google Shape;175;p25"/>
          <p:cNvPicPr preferRelativeResize="0"/>
          <p:nvPr/>
        </p:nvPicPr>
        <p:blipFill rotWithShape="1">
          <a:blip r:embed="rId3">
            <a:alphaModFix/>
          </a:blip>
          <a:srcRect/>
          <a:stretch/>
        </p:blipFill>
        <p:spPr>
          <a:xfrm>
            <a:off x="311705" y="1124638"/>
            <a:ext cx="3434125" cy="3549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¿Cómo funciona en una regresión?</a:t>
            </a:r>
            <a:endParaRPr/>
          </a:p>
          <a:p>
            <a:pPr marL="0" lvl="0" indent="0" algn="l" rtl="0">
              <a:lnSpc>
                <a:spcPct val="100000"/>
              </a:lnSpc>
              <a:spcBef>
                <a:spcPts val="0"/>
              </a:spcBef>
              <a:spcAft>
                <a:spcPts val="0"/>
              </a:spcAft>
              <a:buSzPct val="111111"/>
              <a:buNone/>
            </a:pPr>
            <a:endParaRPr/>
          </a:p>
        </p:txBody>
      </p:sp>
      <p:sp>
        <p:nvSpPr>
          <p:cNvPr id="181" name="Google Shape;181;p26"/>
          <p:cNvSpPr txBox="1">
            <a:spLocks noGrp="1"/>
          </p:cNvSpPr>
          <p:nvPr>
            <p:ph type="body" idx="1"/>
          </p:nvPr>
        </p:nvSpPr>
        <p:spPr>
          <a:xfrm>
            <a:off x="4221950" y="1229875"/>
            <a:ext cx="46104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s-419"/>
              <a:t>Para evitar el sobre ajuste se puede limitar la profundidad del árbol con el parámetro max_depth</a:t>
            </a:r>
            <a:endParaRPr/>
          </a:p>
          <a:p>
            <a:pPr marL="0" lvl="0" indent="0" algn="l" rtl="0">
              <a:lnSpc>
                <a:spcPct val="115000"/>
              </a:lnSpc>
              <a:spcBef>
                <a:spcPts val="1200"/>
              </a:spcBef>
              <a:spcAft>
                <a:spcPts val="0"/>
              </a:spcAft>
              <a:buSzPts val="1800"/>
              <a:buNone/>
            </a:pPr>
            <a:endParaRPr/>
          </a:p>
          <a:p>
            <a:pPr marL="0" lvl="0" indent="0" algn="l" rtl="0">
              <a:lnSpc>
                <a:spcPct val="115000"/>
              </a:lnSpc>
              <a:spcBef>
                <a:spcPts val="1200"/>
              </a:spcBef>
              <a:spcAft>
                <a:spcPts val="1200"/>
              </a:spcAft>
              <a:buSzPts val="1800"/>
              <a:buNone/>
            </a:pPr>
            <a:r>
              <a:rPr lang="es-419"/>
              <a:t>Ejemplo de sobre ajuste , las líneas verdes están marcando el ruido (outliers)</a:t>
            </a:r>
            <a:endParaRPr sz="1200">
              <a:solidFill>
                <a:srgbClr val="212121"/>
              </a:solidFill>
              <a:highlight>
                <a:srgbClr val="FFFFFF"/>
              </a:highlight>
            </a:endParaRPr>
          </a:p>
        </p:txBody>
      </p:sp>
      <p:pic>
        <p:nvPicPr>
          <p:cNvPr id="182" name="Google Shape;182;p26"/>
          <p:cNvPicPr preferRelativeResize="0"/>
          <p:nvPr/>
        </p:nvPicPr>
        <p:blipFill rotWithShape="1">
          <a:blip r:embed="rId3">
            <a:alphaModFix/>
          </a:blip>
          <a:srcRect/>
          <a:stretch/>
        </p:blipFill>
        <p:spPr>
          <a:xfrm>
            <a:off x="198150" y="1229875"/>
            <a:ext cx="4023800" cy="3339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Entendimiento de los datos</a:t>
            </a:r>
            <a:endParaRPr/>
          </a:p>
        </p:txBody>
      </p:sp>
      <p:sp>
        <p:nvSpPr>
          <p:cNvPr id="188" name="Google Shape;188;p27"/>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s-419" sz="1400"/>
              <a:t>Los datos fueron extraídos del data set:  </a:t>
            </a:r>
            <a:r>
              <a:rPr lang="es-419" sz="1400" u="sng"/>
              <a:t>https://www.kaggle.com/datasets/hugomathien/soccer</a:t>
            </a:r>
            <a:endParaRPr sz="1400" u="sng"/>
          </a:p>
        </p:txBody>
      </p:sp>
      <p:pic>
        <p:nvPicPr>
          <p:cNvPr id="189" name="Google Shape;189;p27"/>
          <p:cNvPicPr preferRelativeResize="0"/>
          <p:nvPr/>
        </p:nvPicPr>
        <p:blipFill rotWithShape="1">
          <a:blip r:embed="rId3">
            <a:alphaModFix/>
          </a:blip>
          <a:srcRect/>
          <a:stretch/>
        </p:blipFill>
        <p:spPr>
          <a:xfrm>
            <a:off x="53575" y="1903920"/>
            <a:ext cx="9144001" cy="1614260"/>
          </a:xfrm>
          <a:prstGeom prst="rect">
            <a:avLst/>
          </a:prstGeom>
          <a:noFill/>
          <a:ln>
            <a:noFill/>
          </a:ln>
        </p:spPr>
      </p:pic>
      <p:sp>
        <p:nvSpPr>
          <p:cNvPr id="190" name="Google Shape;190;p27"/>
          <p:cNvSpPr txBox="1"/>
          <p:nvPr/>
        </p:nvSpPr>
        <p:spPr>
          <a:xfrm>
            <a:off x="117875" y="3804050"/>
            <a:ext cx="5304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400"/>
              <a:buFont typeface="Arial"/>
              <a:buNone/>
            </a:pPr>
            <a:r>
              <a:rPr lang="es-419" sz="1400" b="0" i="0" u="none" strike="noStrike" cap="none">
                <a:solidFill>
                  <a:schemeClr val="dk2"/>
                </a:solidFill>
                <a:latin typeface="Roboto"/>
                <a:ea typeface="Roboto"/>
                <a:cs typeface="Roboto"/>
                <a:sym typeface="Roboto"/>
              </a:rPr>
              <a:t>11060 rows x 25 columnas</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Procesamiento de datos</a:t>
            </a:r>
            <a:endParaRPr/>
          </a:p>
        </p:txBody>
      </p:sp>
      <p:sp>
        <p:nvSpPr>
          <p:cNvPr id="196" name="Google Shape;196;p28"/>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s-419"/>
              <a:t>Se eliminaron columnas innecesarias como nombre de jugador o id</a:t>
            </a:r>
            <a:endParaRPr/>
          </a:p>
          <a:p>
            <a:pPr marL="457200" lvl="0" indent="-342900" algn="l" rtl="0">
              <a:lnSpc>
                <a:spcPct val="115000"/>
              </a:lnSpc>
              <a:spcBef>
                <a:spcPts val="0"/>
              </a:spcBef>
              <a:spcAft>
                <a:spcPts val="0"/>
              </a:spcAft>
              <a:buSzPts val="1800"/>
              <a:buChar char="●"/>
            </a:pPr>
            <a:r>
              <a:rPr lang="es-419"/>
              <a:t>Se creó la columna Edad a partir de la fecha de nacimiento de los jugadores</a:t>
            </a:r>
            <a:endParaRPr/>
          </a:p>
          <a:p>
            <a:pPr marL="457200" lvl="0" indent="-342900" algn="l" rtl="0">
              <a:lnSpc>
                <a:spcPct val="115000"/>
              </a:lnSpc>
              <a:spcBef>
                <a:spcPts val="0"/>
              </a:spcBef>
              <a:spcAft>
                <a:spcPts val="0"/>
              </a:spcAft>
              <a:buSzPts val="1800"/>
              <a:buChar char="●"/>
            </a:pPr>
            <a:r>
              <a:rPr lang="es-419"/>
              <a:t>Se identificaron e imputaron valores nulos o NaN en todas las columnas que lo requerían</a:t>
            </a:r>
            <a:endParaRPr/>
          </a:p>
          <a:p>
            <a:pPr marL="457200" lvl="0" indent="-342900" algn="l" rtl="0">
              <a:lnSpc>
                <a:spcPct val="115000"/>
              </a:lnSpc>
              <a:spcBef>
                <a:spcPts val="0"/>
              </a:spcBef>
              <a:spcAft>
                <a:spcPts val="0"/>
              </a:spcAft>
              <a:buSzPts val="1800"/>
              <a:buChar char="●"/>
            </a:pPr>
            <a:r>
              <a:rPr lang="es-419"/>
              <a:t>Se aplicó codificación Label Encoder (Pie preferido) y One Hot (Attacking/Defending rate) a variables categóricas que lo requerían</a:t>
            </a:r>
            <a:endParaRPr/>
          </a:p>
        </p:txBody>
      </p:sp>
      <p:pic>
        <p:nvPicPr>
          <p:cNvPr id="197" name="Google Shape;197;p28"/>
          <p:cNvPicPr preferRelativeResize="0"/>
          <p:nvPr/>
        </p:nvPicPr>
        <p:blipFill rotWithShape="1">
          <a:blip r:embed="rId3">
            <a:alphaModFix/>
          </a:blip>
          <a:srcRect/>
          <a:stretch/>
        </p:blipFill>
        <p:spPr>
          <a:xfrm>
            <a:off x="220263" y="3405188"/>
            <a:ext cx="6410325" cy="904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Entrenamiento del modelo</a:t>
            </a:r>
            <a:endParaRPr/>
          </a:p>
        </p:txBody>
      </p:sp>
      <p:sp>
        <p:nvSpPr>
          <p:cNvPr id="203" name="Google Shape;203;p29"/>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s-419"/>
              <a:t>Se dividieron los datos 75% de entrenamiento y el 25% restante de prueba.</a:t>
            </a:r>
            <a:endParaRPr/>
          </a:p>
          <a:p>
            <a:pPr marL="457200" lvl="0" indent="0" algn="l" rtl="0">
              <a:lnSpc>
                <a:spcPct val="115000"/>
              </a:lnSpc>
              <a:spcBef>
                <a:spcPts val="1200"/>
              </a:spcBef>
              <a:spcAft>
                <a:spcPts val="1200"/>
              </a:spcAft>
              <a:buSzPts val="1800"/>
              <a:buNone/>
            </a:pPr>
            <a:endParaRPr/>
          </a:p>
        </p:txBody>
      </p:sp>
      <p:pic>
        <p:nvPicPr>
          <p:cNvPr id="204" name="Google Shape;204;p29"/>
          <p:cNvPicPr preferRelativeResize="0"/>
          <p:nvPr/>
        </p:nvPicPr>
        <p:blipFill rotWithShape="1">
          <a:blip r:embed="rId3">
            <a:alphaModFix/>
          </a:blip>
          <a:srcRect/>
          <a:stretch/>
        </p:blipFill>
        <p:spPr>
          <a:xfrm>
            <a:off x="1360900" y="1735100"/>
            <a:ext cx="4121949" cy="3140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Métricas</a:t>
            </a:r>
            <a:endParaRPr/>
          </a:p>
        </p:txBody>
      </p:sp>
      <p:sp>
        <p:nvSpPr>
          <p:cNvPr id="210" name="Google Shape;210;p30"/>
          <p:cNvSpPr txBox="1">
            <a:spLocks noGrp="1"/>
          </p:cNvSpPr>
          <p:nvPr>
            <p:ph type="body" idx="1"/>
          </p:nvPr>
        </p:nvSpPr>
        <p:spPr>
          <a:xfrm>
            <a:off x="311700" y="1135850"/>
            <a:ext cx="8520600" cy="3432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rgbClr val="000000"/>
              </a:buClr>
              <a:buSzPts val="1100"/>
              <a:buFont typeface="Arial"/>
              <a:buNone/>
            </a:pPr>
            <a:r>
              <a:rPr lang="es-419" b="1"/>
              <a:t>R-cuadrada</a:t>
            </a:r>
            <a:endParaRPr b="1"/>
          </a:p>
          <a:p>
            <a:pPr marL="0" lvl="0" indent="0" algn="l" rtl="0">
              <a:lnSpc>
                <a:spcPct val="100000"/>
              </a:lnSpc>
              <a:spcBef>
                <a:spcPts val="1000"/>
              </a:spcBef>
              <a:spcAft>
                <a:spcPts val="0"/>
              </a:spcAft>
              <a:buSzPts val="1800"/>
              <a:buNone/>
            </a:pPr>
            <a:r>
              <a:rPr lang="es-419"/>
              <a:t>Es el porcentaje de la variación en la variable de respuesta que es explicado por un modelo lineal. Es decir:</a:t>
            </a:r>
            <a:endParaRPr/>
          </a:p>
          <a:p>
            <a:pPr marL="0" lvl="0" indent="0" algn="ctr" rtl="0">
              <a:lnSpc>
                <a:spcPct val="100000"/>
              </a:lnSpc>
              <a:spcBef>
                <a:spcPts val="1000"/>
              </a:spcBef>
              <a:spcAft>
                <a:spcPts val="0"/>
              </a:spcAft>
              <a:buSzPts val="1800"/>
              <a:buNone/>
            </a:pPr>
            <a:r>
              <a:rPr lang="es-419"/>
              <a:t>R-cuadrado = Variación explicada / variación total</a:t>
            </a:r>
            <a:endParaRPr/>
          </a:p>
          <a:p>
            <a:pPr marL="0" lvl="0" indent="0" algn="l" rtl="0">
              <a:lnSpc>
                <a:spcPct val="100000"/>
              </a:lnSpc>
              <a:spcBef>
                <a:spcPts val="1000"/>
              </a:spcBef>
              <a:spcAft>
                <a:spcPts val="0"/>
              </a:spcAft>
              <a:buSzPts val="1800"/>
              <a:buNone/>
            </a:pPr>
            <a:r>
              <a:rPr lang="es-419"/>
              <a:t>El R-cuadrado siempre está entre 0 y 100%:</a:t>
            </a:r>
            <a:endParaRPr/>
          </a:p>
          <a:p>
            <a:pPr marL="285750" lvl="0" indent="-279400" algn="l" rtl="0">
              <a:lnSpc>
                <a:spcPct val="100000"/>
              </a:lnSpc>
              <a:spcBef>
                <a:spcPts val="1000"/>
              </a:spcBef>
              <a:spcAft>
                <a:spcPts val="0"/>
              </a:spcAft>
              <a:buClr>
                <a:srgbClr val="000000"/>
              </a:buClr>
              <a:buSzPts val="1000"/>
              <a:buFont typeface="Arial"/>
              <a:buChar char="•"/>
            </a:pPr>
            <a:r>
              <a:rPr lang="es-419" sz="1700"/>
              <a:t>0% indica que el modelo no explica ninguna porción de la variabilidad de los datos </a:t>
            </a:r>
            <a:endParaRPr sz="1700"/>
          </a:p>
          <a:p>
            <a:pPr marL="285750" lvl="0" indent="-279400" algn="l" rtl="0">
              <a:lnSpc>
                <a:spcPct val="100000"/>
              </a:lnSpc>
              <a:spcBef>
                <a:spcPts val="1000"/>
              </a:spcBef>
              <a:spcAft>
                <a:spcPts val="0"/>
              </a:spcAft>
              <a:buClr>
                <a:srgbClr val="000000"/>
              </a:buClr>
              <a:buSzPts val="1000"/>
              <a:buFont typeface="Arial"/>
              <a:buChar char="•"/>
            </a:pPr>
            <a:r>
              <a:rPr lang="es-419" sz="1700"/>
              <a:t>100% indica que el modelo explica toda la variabilidad de los datos.</a:t>
            </a:r>
            <a:endParaRPr sz="17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1"/>
          <p:cNvSpPr txBox="1">
            <a:spLocks noGrp="1"/>
          </p:cNvSpPr>
          <p:nvPr>
            <p:ph type="title"/>
          </p:nvPr>
        </p:nvSpPr>
        <p:spPr>
          <a:xfrm>
            <a:off x="86675" y="109975"/>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Árbol de decisión</a:t>
            </a:r>
            <a:endParaRPr/>
          </a:p>
        </p:txBody>
      </p:sp>
      <p:pic>
        <p:nvPicPr>
          <p:cNvPr id="216" name="Google Shape;216;p31"/>
          <p:cNvPicPr preferRelativeResize="0"/>
          <p:nvPr/>
        </p:nvPicPr>
        <p:blipFill rotWithShape="1">
          <a:blip r:embed="rId3">
            <a:alphaModFix/>
          </a:blip>
          <a:srcRect/>
          <a:stretch/>
        </p:blipFill>
        <p:spPr>
          <a:xfrm>
            <a:off x="1221575" y="0"/>
            <a:ext cx="7100849" cy="49506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Variables con mayor importancia</a:t>
            </a:r>
            <a:endParaRPr/>
          </a:p>
        </p:txBody>
      </p:sp>
      <p:pic>
        <p:nvPicPr>
          <p:cNvPr id="222" name="Google Shape;222;p32"/>
          <p:cNvPicPr preferRelativeResize="0"/>
          <p:nvPr/>
        </p:nvPicPr>
        <p:blipFill rotWithShape="1">
          <a:blip r:embed="rId3">
            <a:alphaModFix/>
          </a:blip>
          <a:srcRect/>
          <a:stretch/>
        </p:blipFill>
        <p:spPr>
          <a:xfrm>
            <a:off x="311700" y="1266525"/>
            <a:ext cx="4010975" cy="3265699"/>
          </a:xfrm>
          <a:prstGeom prst="rect">
            <a:avLst/>
          </a:prstGeom>
          <a:noFill/>
          <a:ln>
            <a:noFill/>
          </a:ln>
        </p:spPr>
      </p:pic>
      <p:sp>
        <p:nvSpPr>
          <p:cNvPr id="223" name="Google Shape;223;p32"/>
          <p:cNvSpPr txBox="1"/>
          <p:nvPr/>
        </p:nvSpPr>
        <p:spPr>
          <a:xfrm>
            <a:off x="4768450" y="1435900"/>
            <a:ext cx="3707700" cy="2656200"/>
          </a:xfrm>
          <a:prstGeom prst="rect">
            <a:avLst/>
          </a:prstGeom>
          <a:noFill/>
          <a:ln>
            <a:noFill/>
          </a:ln>
        </p:spPr>
        <p:txBody>
          <a:bodyPr spcFirstLastPara="1" wrap="square" lIns="91425" tIns="91425" rIns="91425" bIns="91425" anchor="t" anchorCtr="0">
            <a:spAutoFit/>
          </a:bodyPr>
          <a:lstStyle/>
          <a:p>
            <a:pPr marL="0" marR="0" lvl="0" indent="0" algn="l" rtl="0">
              <a:lnSpc>
                <a:spcPct val="135714"/>
              </a:lnSpc>
              <a:spcBef>
                <a:spcPts val="0"/>
              </a:spcBef>
              <a:spcAft>
                <a:spcPts val="0"/>
              </a:spcAft>
              <a:buClr>
                <a:srgbClr val="000000"/>
              </a:buClr>
              <a:buSzPts val="1800"/>
              <a:buFont typeface="Arial"/>
              <a:buNone/>
            </a:pPr>
            <a:r>
              <a:rPr lang="es-419" sz="1800" b="0" i="0" u="none" strike="noStrike" cap="none">
                <a:solidFill>
                  <a:schemeClr val="dk2"/>
                </a:solidFill>
                <a:latin typeface="Roboto"/>
                <a:ea typeface="Roboto"/>
                <a:cs typeface="Roboto"/>
                <a:sym typeface="Roboto"/>
              </a:rPr>
              <a:t>Variables más importantes : 19, 9, 15</a:t>
            </a:r>
            <a:endParaRPr sz="1800" b="0" i="0" u="none" strike="noStrike" cap="none">
              <a:solidFill>
                <a:schemeClr val="dk2"/>
              </a:solidFill>
              <a:latin typeface="Roboto"/>
              <a:ea typeface="Roboto"/>
              <a:cs typeface="Roboto"/>
              <a:sym typeface="Roboto"/>
            </a:endParaRPr>
          </a:p>
          <a:p>
            <a:pPr marL="0" marR="0" lvl="0" indent="0" algn="l" rtl="0">
              <a:lnSpc>
                <a:spcPct val="135714"/>
              </a:lnSpc>
              <a:spcBef>
                <a:spcPts val="0"/>
              </a:spcBef>
              <a:spcAft>
                <a:spcPts val="0"/>
              </a:spcAft>
              <a:buClr>
                <a:srgbClr val="000000"/>
              </a:buClr>
              <a:buSzPts val="1800"/>
              <a:buFont typeface="Arial"/>
              <a:buNone/>
            </a:pPr>
            <a:endParaRPr sz="1800" b="0" i="0" u="none" strike="noStrike" cap="none">
              <a:solidFill>
                <a:schemeClr val="dk2"/>
              </a:solidFill>
              <a:latin typeface="Roboto"/>
              <a:ea typeface="Roboto"/>
              <a:cs typeface="Roboto"/>
              <a:sym typeface="Roboto"/>
            </a:endParaRPr>
          </a:p>
          <a:p>
            <a:pPr marL="0" marR="0" lvl="0" indent="0" algn="l" rtl="0">
              <a:lnSpc>
                <a:spcPct val="135714"/>
              </a:lnSpc>
              <a:spcBef>
                <a:spcPts val="0"/>
              </a:spcBef>
              <a:spcAft>
                <a:spcPts val="0"/>
              </a:spcAft>
              <a:buClr>
                <a:srgbClr val="000000"/>
              </a:buClr>
              <a:buSzPts val="1800"/>
              <a:buFont typeface="Arial"/>
              <a:buNone/>
            </a:pPr>
            <a:r>
              <a:rPr lang="es-419" sz="1800" b="0" i="0" u="none" strike="noStrike" cap="none">
                <a:solidFill>
                  <a:schemeClr val="dk2"/>
                </a:solidFill>
                <a:latin typeface="Roboto"/>
                <a:ea typeface="Roboto"/>
                <a:cs typeface="Roboto"/>
                <a:sym typeface="Roboto"/>
              </a:rPr>
              <a:t>19 = Agilidad</a:t>
            </a:r>
            <a:endParaRPr sz="1800" b="0" i="0" u="none" strike="noStrike" cap="none">
              <a:solidFill>
                <a:schemeClr val="dk2"/>
              </a:solidFill>
              <a:latin typeface="Roboto"/>
              <a:ea typeface="Roboto"/>
              <a:cs typeface="Roboto"/>
              <a:sym typeface="Roboto"/>
            </a:endParaRPr>
          </a:p>
          <a:p>
            <a:pPr marL="0" marR="0" lvl="0" indent="0" algn="l" rtl="0">
              <a:lnSpc>
                <a:spcPct val="135714"/>
              </a:lnSpc>
              <a:spcBef>
                <a:spcPts val="0"/>
              </a:spcBef>
              <a:spcAft>
                <a:spcPts val="0"/>
              </a:spcAft>
              <a:buClr>
                <a:srgbClr val="000000"/>
              </a:buClr>
              <a:buSzPts val="1800"/>
              <a:buFont typeface="Arial"/>
              <a:buNone/>
            </a:pPr>
            <a:r>
              <a:rPr lang="es-419" sz="1800" b="0" i="0" u="none" strike="noStrike" cap="none">
                <a:solidFill>
                  <a:schemeClr val="dk2"/>
                </a:solidFill>
                <a:latin typeface="Roboto"/>
                <a:ea typeface="Roboto"/>
                <a:cs typeface="Roboto"/>
                <a:sym typeface="Roboto"/>
              </a:rPr>
              <a:t>9 = Peso</a:t>
            </a:r>
            <a:endParaRPr sz="1800" b="0" i="0" u="none" strike="noStrike" cap="none">
              <a:solidFill>
                <a:schemeClr val="dk2"/>
              </a:solidFill>
              <a:latin typeface="Roboto"/>
              <a:ea typeface="Roboto"/>
              <a:cs typeface="Roboto"/>
              <a:sym typeface="Roboto"/>
            </a:endParaRPr>
          </a:p>
          <a:p>
            <a:pPr marL="0" marR="0" lvl="0" indent="0" algn="l" rtl="0">
              <a:lnSpc>
                <a:spcPct val="135714"/>
              </a:lnSpc>
              <a:spcBef>
                <a:spcPts val="0"/>
              </a:spcBef>
              <a:spcAft>
                <a:spcPts val="0"/>
              </a:spcAft>
              <a:buClr>
                <a:srgbClr val="000000"/>
              </a:buClr>
              <a:buSzPts val="1800"/>
              <a:buFont typeface="Arial"/>
              <a:buNone/>
            </a:pPr>
            <a:r>
              <a:rPr lang="es-419" sz="1800" b="0" i="0" u="none" strike="noStrike" cap="none">
                <a:solidFill>
                  <a:schemeClr val="dk2"/>
                </a:solidFill>
                <a:latin typeface="Roboto"/>
                <a:ea typeface="Roboto"/>
                <a:cs typeface="Roboto"/>
                <a:sym typeface="Roboto"/>
              </a:rPr>
              <a:t>15 = Control de balón</a:t>
            </a:r>
            <a:endParaRPr sz="1050" b="0" i="1" u="none" strike="noStrike" cap="none">
              <a:solidFill>
                <a:srgbClr val="000000"/>
              </a:solidFill>
              <a:highlight>
                <a:srgbClr val="FFFFFE"/>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Código</a:t>
            </a:r>
            <a:endParaRPr/>
          </a:p>
        </p:txBody>
      </p:sp>
      <p:sp>
        <p:nvSpPr>
          <p:cNvPr id="229" name="Google Shape;229;p3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8600" lvl="0" indent="0" algn="l" rtl="0">
              <a:lnSpc>
                <a:spcPct val="120000"/>
              </a:lnSpc>
              <a:spcBef>
                <a:spcPts val="0"/>
              </a:spcBef>
              <a:spcAft>
                <a:spcPts val="0"/>
              </a:spcAft>
              <a:buClr>
                <a:srgbClr val="41515B"/>
              </a:buClr>
              <a:buSzPts val="2000"/>
              <a:buFont typeface="Arial"/>
              <a:buNone/>
            </a:pPr>
            <a:r>
              <a:rPr lang="es-419"/>
              <a:t>El código se puede consultar en el siguiente enlace.</a:t>
            </a:r>
            <a:endParaRPr/>
          </a:p>
          <a:p>
            <a:pPr marL="48600" lvl="0" indent="0" algn="l" rtl="0">
              <a:lnSpc>
                <a:spcPct val="120000"/>
              </a:lnSpc>
              <a:spcBef>
                <a:spcPts val="1200"/>
              </a:spcBef>
              <a:spcAft>
                <a:spcPts val="0"/>
              </a:spcAft>
              <a:buClr>
                <a:srgbClr val="41515B"/>
              </a:buClr>
              <a:buSzPts val="2000"/>
              <a:buFont typeface="Arial"/>
              <a:buNone/>
            </a:pPr>
            <a:endParaRPr/>
          </a:p>
          <a:p>
            <a:pPr marL="48600" lvl="0" indent="0" algn="l" rtl="0">
              <a:lnSpc>
                <a:spcPct val="120000"/>
              </a:lnSpc>
              <a:spcBef>
                <a:spcPts val="1200"/>
              </a:spcBef>
              <a:spcAft>
                <a:spcPts val="0"/>
              </a:spcAft>
              <a:buClr>
                <a:srgbClr val="41515B"/>
              </a:buClr>
              <a:buSzPts val="2000"/>
              <a:buFont typeface="Arial"/>
              <a:buNone/>
            </a:pPr>
            <a:r>
              <a:rPr lang="es-419"/>
              <a:t>Enlace: </a:t>
            </a:r>
            <a:r>
              <a:rPr lang="es-419" u="sng"/>
              <a:t>https://colab.research.google.com/drive/1mp1VveaMqT_jSEM5x0smVScgeO3r4sZZ?usp=sharing</a:t>
            </a:r>
            <a:endParaRPr sz="2000" u="sng">
              <a:solidFill>
                <a:srgbClr val="41515B"/>
              </a:solidFill>
              <a:latin typeface="Century Gothic"/>
              <a:ea typeface="Century Gothic"/>
              <a:cs typeface="Century Gothic"/>
              <a:sym typeface="Century Gothic"/>
            </a:endParaRPr>
          </a:p>
          <a:p>
            <a:pPr marL="0" lvl="0" indent="0" algn="l" rtl="0">
              <a:lnSpc>
                <a:spcPct val="115000"/>
              </a:lnSpc>
              <a:spcBef>
                <a:spcPts val="0"/>
              </a:spcBef>
              <a:spcAft>
                <a:spcPts val="1200"/>
              </a:spcAft>
              <a:buSzPts val="1800"/>
              <a:buNone/>
            </a:pP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735</Words>
  <Application>Microsoft Office PowerPoint</Application>
  <PresentationFormat>On-screen Show (16:9)</PresentationFormat>
  <Paragraphs>62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Roboto</vt:lpstr>
      <vt:lpstr>Century Gothic</vt:lpstr>
      <vt:lpstr>Courier New</vt:lpstr>
      <vt:lpstr>Arial</vt:lpstr>
      <vt:lpstr>Geometric</vt:lpstr>
      <vt:lpstr>Proyecto Final de Diplomado</vt:lpstr>
      <vt:lpstr>Objetivo</vt:lpstr>
      <vt:lpstr>Entendimiento del algoritmo</vt:lpstr>
      <vt:lpstr>PowerPoint Presentation</vt:lpstr>
      <vt:lpstr>¿Cómo funciona?</vt:lpstr>
      <vt:lpstr>¿Cómo funciona en una regresión?</vt:lpstr>
      <vt:lpstr>¿Cómo funciona en una regresión?</vt:lpstr>
      <vt:lpstr>¿Cómo funciona en una regresión?</vt:lpstr>
      <vt:lpstr>¿Cómo funciona en una regresión?</vt:lpstr>
      <vt:lpstr>¿Cómo funciona en una regresión?</vt:lpstr>
      <vt:lpstr>¿Cómo funciona en una regresión? </vt:lpstr>
      <vt:lpstr>¿Cómo funciona en una regresión? </vt:lpstr>
      <vt:lpstr>¿Cómo funciona en una regresión? </vt:lpstr>
      <vt:lpstr>¿Cómo funciona en una regresión? </vt:lpstr>
      <vt:lpstr>Entendimiento de los datos</vt:lpstr>
      <vt:lpstr>Procesamiento de datos</vt:lpstr>
      <vt:lpstr>Entrenamiento del modelo</vt:lpstr>
      <vt:lpstr>Métricas</vt:lpstr>
      <vt:lpstr>Árbol de decisión</vt:lpstr>
      <vt:lpstr>Variables con mayor importancia</vt:lpstr>
      <vt:lpstr>Código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Enrique Olvera</dc:creator>
  <cp:lastModifiedBy>Enrique Olvera</cp:lastModifiedBy>
  <cp:revision>1</cp:revision>
  <dcterms:modified xsi:type="dcterms:W3CDTF">2026-08-09T23:58:43Z</dcterms:modified>
</cp:coreProperties>
</file>